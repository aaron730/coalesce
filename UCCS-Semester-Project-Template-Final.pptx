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6858000" cy="9144000"/>
  <p:embeddedFontLs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JHsSEfv28p9g7IhM4nMajONef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BB172B-ABDE-437E-9F05-2FFAAEB28685}">
  <a:tblStyle styleId="{F8BB172B-ABDE-437E-9F05-2FFAAEB286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9ab34d7e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9ab34d7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34e826ba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34e826b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97e7413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197e741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34e826ba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834e826ba1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97e7413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197e7413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92a1d06d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92a1d06d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92a1d06da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92a1d06d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92a1d06d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92a1d06d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2a1d06d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92a1d06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9cb06382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9cb0638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9cb063825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9cb06382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d4f0023a1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d4f0023a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88fe82cf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88fe82c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d4f0023a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d4f0023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d4f0023a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d4f0023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34e826ba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834e826ba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34e826ba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834e826ba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9ab34d7e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9ab34d7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d0ab769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8d0ab7696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9cb06382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9cb0638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d4f0023a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d4f0023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d4f0023a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d4f0023a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CCS Signature - Reverse.eps" id="28" name="Google Shape;2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6300" y="2438400"/>
            <a:ext cx="7391400" cy="1023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CwCampusesRev.png" id="29" name="Google Shape;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4191000"/>
            <a:ext cx="5029200" cy="960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1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 rot="5400000">
            <a:off x="2362200" y="-304799"/>
            <a:ext cx="441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3810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124200" y="58070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6629400" y="5807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5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CCS Signature - Reverse.png" id="12" name="Google Shape;12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6351379"/>
            <a:ext cx="2581774" cy="354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CwCampusesRev.png" id="13" name="Google Shape;1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77000" y="6283472"/>
            <a:ext cx="2209801" cy="42212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aron730/Coalesce" TargetMode="External"/><Relationship Id="rId4" Type="http://schemas.openxmlformats.org/officeDocument/2006/relationships/hyperlink" Target="https://github.com/aaron730/Coalesc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685800" y="152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Graduate Team 1’s </a:t>
            </a:r>
            <a:r>
              <a:rPr lang="en-US"/>
              <a:t>Semester Project Final Presentation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1371600" y="1905000"/>
            <a:ext cx="64008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CS 5320</a:t>
            </a:r>
            <a:r>
              <a:rPr lang="en-US"/>
              <a:t>: </a:t>
            </a:r>
            <a:r>
              <a:rPr lang="en-US"/>
              <a:t>Software Design</a:t>
            </a:r>
            <a:endParaRPr/>
          </a:p>
          <a:p>
            <a:pPr indent="0" lvl="0" marL="0" rtl="0" algn="ctr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Semester: Fall</a:t>
            </a:r>
            <a:endParaRPr/>
          </a:p>
          <a:p>
            <a:pPr indent="0" lvl="0" marL="0" rtl="0" algn="ctr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Aaron Elofson</a:t>
            </a:r>
            <a:endParaRPr/>
          </a:p>
          <a:p>
            <a:pPr indent="0" lvl="0" marL="0" rtl="0" algn="ctr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Permission is granted for publication on the UCCS website.</a:t>
            </a:r>
            <a:endParaRPr/>
          </a:p>
          <a:p>
            <a:pPr indent="0" lvl="0" marL="0" rtl="0" algn="ctr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Professor: Dr. Armin Moin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Project Idea 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Service to pull in step and activity data from multiple services (Garmin, Google Fit, Coros)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Normalize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Allow user to prioritize data based on source, time and activity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Display combined </a:t>
            </a:r>
            <a:r>
              <a:rPr lang="en-US"/>
              <a:t>activity</a:t>
            </a:r>
            <a:r>
              <a:rPr lang="en-US"/>
              <a:t> data in app or widget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9ab34d7e2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Customer / End User</a:t>
            </a:r>
            <a:endParaRPr/>
          </a:p>
        </p:txBody>
      </p:sp>
      <p:sp>
        <p:nvSpPr>
          <p:cNvPr id="104" name="Google Shape;104;g399ab34d7e2_0_5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Athletes / Runners who have different devices or are part of different ecosystems.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Those who need more control over their fitness data.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4e826ba1_0_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makes it Unique</a:t>
            </a:r>
            <a:endParaRPr/>
          </a:p>
        </p:txBody>
      </p:sp>
      <p:sp>
        <p:nvSpPr>
          <p:cNvPr id="110" name="Google Shape;110;g3834e826ba1_0_17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Related Project - Health Sync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Only transfers activities between services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Doesn’t allow user to set preferences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No UI to display activities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Not open source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Ecosystem Health Apps (Apple, Google)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Only for one brand of products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Doesn’t support high end sports gear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97e7413b_0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APIs to be included</a:t>
            </a:r>
            <a:endParaRPr/>
          </a:p>
        </p:txBody>
      </p:sp>
      <p:sp>
        <p:nvSpPr>
          <p:cNvPr id="116" name="Google Shape;116;g3a197e7413b_0_1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Google Health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Requires android device to sync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Coros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Requires development updates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Garmin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Requires development updates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Apple (Health Kit)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Requires apple device to sync data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34e826ba1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Course Connection</a:t>
            </a:r>
            <a:endParaRPr/>
          </a:p>
        </p:txBody>
      </p:sp>
      <p:sp>
        <p:nvSpPr>
          <p:cNvPr id="122" name="Google Shape;122;g3834e826ba1_0_7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Application of ADD 3.0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Architectural Style and Design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Software System Modeling and Views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Project D</a:t>
            </a:r>
            <a:r>
              <a:rPr lang="en-US"/>
              <a:t>evelopment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Project Path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Planning Path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2 Main reasons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Complex back end that would take longer than semester months to develop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API Connection requests could take longer too long to return and require too </a:t>
            </a:r>
            <a:r>
              <a:rPr lang="en-US"/>
              <a:t>much upkeep</a:t>
            </a:r>
            <a:r>
              <a:rPr lang="en-US"/>
              <a:t>	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Diagrams and modeling w</a:t>
            </a:r>
            <a:r>
              <a:rPr lang="en-US"/>
              <a:t>i</a:t>
            </a:r>
            <a:r>
              <a:rPr lang="en-US"/>
              <a:t>ll provide good plan for starting development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97e7413b_0_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Design &amp; Architecture</a:t>
            </a:r>
            <a:endParaRPr/>
          </a:p>
        </p:txBody>
      </p:sp>
      <p:sp>
        <p:nvSpPr>
          <p:cNvPr id="134" name="Google Shape;134;g3a197e7413b_0_34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Patterns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Thread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Architecture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Pipe and filter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Repository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92a1d06da_0_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Diagram (Structure)</a:t>
            </a:r>
            <a:endParaRPr/>
          </a:p>
        </p:txBody>
      </p:sp>
      <p:pic>
        <p:nvPicPr>
          <p:cNvPr id="140" name="Google Shape;140;g3892a1d06da_0_2" title="Class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475" y="1417648"/>
            <a:ext cx="3550526" cy="41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92a1d06da_0_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 (Interaction)</a:t>
            </a:r>
            <a:endParaRPr/>
          </a:p>
        </p:txBody>
      </p:sp>
      <p:pic>
        <p:nvPicPr>
          <p:cNvPr id="146" name="Google Shape;146;g3892a1d06da_0_23" title="SaveNewPrefsSequ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9463" y="1539698"/>
            <a:ext cx="5765076" cy="42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92a1d06da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Activity Diagram (</a:t>
            </a:r>
            <a:r>
              <a:rPr lang="en-US"/>
              <a:t>Behavior</a:t>
            </a:r>
            <a:r>
              <a:rPr lang="en-US"/>
              <a:t>)</a:t>
            </a:r>
            <a:endParaRPr/>
          </a:p>
        </p:txBody>
      </p:sp>
      <p:pic>
        <p:nvPicPr>
          <p:cNvPr id="152" name="Google Shape;152;g3892a1d06da_0_7" title="Saving New Activ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600" y="1498135"/>
            <a:ext cx="1983125" cy="38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892a1d06da_0_7" title="Activity User Pref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925" y="1417650"/>
            <a:ext cx="2272150" cy="433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92a1d06da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Diagram (Behavior)</a:t>
            </a:r>
            <a:endParaRPr/>
          </a:p>
        </p:txBody>
      </p:sp>
      <p:pic>
        <p:nvPicPr>
          <p:cNvPr id="159" name="Google Shape;159;g3892a1d06d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8839202" cy="37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9cb063825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 - Repository</a:t>
            </a:r>
            <a:endParaRPr/>
          </a:p>
        </p:txBody>
      </p:sp>
      <p:pic>
        <p:nvPicPr>
          <p:cNvPr id="165" name="Google Shape;165;g399cb063825_0_5" title="Reposi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023" y="1417648"/>
            <a:ext cx="5087175" cy="44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9cb063825_0_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 - Pipe and Filter</a:t>
            </a:r>
            <a:endParaRPr/>
          </a:p>
        </p:txBody>
      </p:sp>
      <p:pic>
        <p:nvPicPr>
          <p:cNvPr id="171" name="Google Shape;171;g399cb063825_0_11" title="Pip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1188"/>
            <a:ext cx="8677275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d4f0023a1_0_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Pattern - Thread Pool</a:t>
            </a:r>
            <a:endParaRPr/>
          </a:p>
        </p:txBody>
      </p:sp>
      <p:pic>
        <p:nvPicPr>
          <p:cNvPr id="177" name="Google Shape;177;g3ad4f0023a1_0_11" title="Threadpool Seque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099" y="1417650"/>
            <a:ext cx="5254124" cy="46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88fe82cf2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 and Task breakdown</a:t>
            </a:r>
            <a:endParaRPr/>
          </a:p>
        </p:txBody>
      </p:sp>
      <p:sp>
        <p:nvSpPr>
          <p:cNvPr id="183" name="Google Shape;183;g3988fe82cf2_0_0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 ADD Iterations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1 - Establishing an Overall System Structure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2 - Refining Application Structure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3 - API Calling and Implementation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d4f0023a1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3.0 - Use Cases and QAs</a:t>
            </a:r>
            <a:endParaRPr/>
          </a:p>
        </p:txBody>
      </p:sp>
      <p:graphicFrame>
        <p:nvGraphicFramePr>
          <p:cNvPr id="189" name="Google Shape;189;g3ad4f0023a1_0_16"/>
          <p:cNvGraphicFramePr/>
          <p:nvPr/>
        </p:nvGraphicFramePr>
        <p:xfrm>
          <a:off x="898275" y="163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{F8BB172B-ABDE-437E-9F05-2FFAAEB28685}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Use Case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Description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UC-1: Import Data from Multiple Sources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user should be able to import data from multiple health services by connecting their account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UC-2: Set preferences for data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user should be able to set preferences on which data sources take priority during certain days and times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UC-3: View aggregate step count in multiple ways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user should be able to view their daily step count in the app, within a widget, and by notification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UC-4: Data from sources should be pulled automatically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 from the user's connected accounts should be pulled automatically at set intervals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Quality Attributes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Scenario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Associated UC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QA-1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User should have the ability to deleted any and all data as requested from our service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UC-1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QA-2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user should have a log of all actions taken within the app to verify security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UC-2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d4f0023a1_0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3.0 - Constraints and Concerns</a:t>
            </a:r>
            <a:endParaRPr/>
          </a:p>
        </p:txBody>
      </p:sp>
      <p:sp>
        <p:nvSpPr>
          <p:cNvPr id="195" name="Google Shape;195;g3ad4f0023a1_0_21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graphicFrame>
        <p:nvGraphicFramePr>
          <p:cNvPr id="196" name="Google Shape;196;g3ad4f0023a1_0_21"/>
          <p:cNvGraphicFramePr/>
          <p:nvPr/>
        </p:nvGraphicFramePr>
        <p:xfrm>
          <a:off x="457200" y="117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{F8BB172B-ABDE-437E-9F05-2FFAAEB28685}</a:tableStyleId>
              </a:tblPr>
              <a:tblGrid>
                <a:gridCol w="4036575"/>
                <a:gridCol w="4036575"/>
              </a:tblGrid>
              <a:tr h="76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Constraints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Description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76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API standards must be maintained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CON-2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User data must be secure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Concerns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Description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76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CRN-1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Some API's may require frequent updates to keep active key.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CRN-2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Some API's are only available on certain devices (Android, Apple)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34e826ba1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Open Source &amp; License</a:t>
            </a:r>
            <a:endParaRPr/>
          </a:p>
        </p:txBody>
      </p:sp>
      <p:sp>
        <p:nvSpPr>
          <p:cNvPr id="202" name="Google Shape;202;g3834e826ba1_0_12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Github: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https://github.com/aaron730/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Coalesce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Allow developers to add different health app data pipelines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MIT License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34e826ba1_0_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Research</a:t>
            </a:r>
            <a:endParaRPr/>
          </a:p>
        </p:txBody>
      </p:sp>
      <p:sp>
        <p:nvSpPr>
          <p:cNvPr id="208" name="Google Shape;208;g3834e826ba1_0_2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Consumer API Convergence Across Industries and The Future of APIs in an AI Web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Compare how similar external APIs are across industries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Explore structure and depth and see how each industry has converged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Also view the current state of APIs and how they must evolve to work with AI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9ab34d7e2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Questions</a:t>
            </a:r>
            <a:endParaRPr/>
          </a:p>
        </p:txBody>
      </p:sp>
      <p:sp>
        <p:nvSpPr>
          <p:cNvPr id="214" name="Google Shape;214;g399ab34d7e2_0_0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78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2350"/>
              <a:buFont typeface="Arial Black"/>
              <a:buAutoNum type="arabicPeriod"/>
            </a:pPr>
            <a:r>
              <a:rPr b="1" lang="en-US" sz="2350">
                <a:solidFill>
                  <a:srgbClr val="1F1F1F"/>
                </a:solidFill>
              </a:rPr>
              <a:t>What is the state of API Standardization across global industries?</a:t>
            </a:r>
            <a:endParaRPr b="1" sz="2350">
              <a:solidFill>
                <a:srgbClr val="1F1F1F"/>
              </a:solidFill>
            </a:endParaRPr>
          </a:p>
          <a:p>
            <a:pPr indent="-377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350"/>
              <a:buFont typeface="Arial Black"/>
              <a:buAutoNum type="arabicPeriod"/>
            </a:pPr>
            <a:r>
              <a:rPr b="1" lang="en-US" sz="2350">
                <a:solidFill>
                  <a:srgbClr val="1F1F1F"/>
                </a:solidFill>
              </a:rPr>
              <a:t>How do these industry-specific standardization drivers dictate the required strategic architectural approach for enterprise API integration</a:t>
            </a:r>
            <a:r>
              <a:rPr lang="en-US" sz="2350">
                <a:solidFill>
                  <a:srgbClr val="1F1F1F"/>
                </a:solidFill>
              </a:rPr>
              <a:t> </a:t>
            </a:r>
            <a:endParaRPr sz="2350">
              <a:solidFill>
                <a:srgbClr val="1F1F1F"/>
              </a:solidFill>
            </a:endParaRPr>
          </a:p>
          <a:p>
            <a:pPr indent="-377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350"/>
              <a:buFont typeface="Arial Black"/>
              <a:buAutoNum type="arabicPeriod"/>
            </a:pPr>
            <a:r>
              <a:rPr b="1" lang="en-US" sz="2350">
                <a:solidFill>
                  <a:srgbClr val="1F1F1F"/>
                </a:solidFill>
              </a:rPr>
              <a:t>What are the foundational technical protocols and tooling</a:t>
            </a:r>
            <a:r>
              <a:rPr lang="en-US" sz="2350">
                <a:solidFill>
                  <a:srgbClr val="1F1F1F"/>
                </a:solidFill>
              </a:rPr>
              <a:t> </a:t>
            </a:r>
            <a:r>
              <a:rPr b="1" lang="en-US" sz="2350">
                <a:solidFill>
                  <a:srgbClr val="1F1F1F"/>
                </a:solidFill>
              </a:rPr>
              <a:t>that form the technical bedrock for modern industry APIs, and what are the key emerging trends</a:t>
            </a:r>
            <a:r>
              <a:rPr lang="en-US" sz="2350">
                <a:solidFill>
                  <a:srgbClr val="1F1F1F"/>
                </a:solidFill>
              </a:rPr>
              <a:t> </a:t>
            </a:r>
            <a:endParaRPr sz="2350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4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d0ab7696a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Research Methods</a:t>
            </a:r>
            <a:endParaRPr/>
          </a:p>
        </p:txBody>
      </p:sp>
      <p:sp>
        <p:nvSpPr>
          <p:cNvPr id="220" name="Google Shape;220;g38d0ab7696a_0_0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32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2750"/>
              <a:buChar char="-"/>
            </a:pPr>
            <a:r>
              <a:rPr b="1" lang="en-US" sz="2750">
                <a:solidFill>
                  <a:srgbClr val="1F1F1F"/>
                </a:solidFill>
              </a:rPr>
              <a:t>Comparative Analysis:</a:t>
            </a:r>
            <a:r>
              <a:rPr lang="en-US" sz="2750">
                <a:solidFill>
                  <a:srgbClr val="1F1F1F"/>
                </a:solidFill>
              </a:rPr>
              <a:t> The core method was to compare the findings across the ten sectors to draw universal conclusions. </a:t>
            </a:r>
            <a:endParaRPr sz="2750">
              <a:solidFill>
                <a:srgbClr val="1F1F1F"/>
              </a:solidFill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50"/>
              <a:buChar char="-"/>
            </a:pPr>
            <a:r>
              <a:rPr lang="en-US" sz="2750">
                <a:solidFill>
                  <a:srgbClr val="1F1F1F"/>
                </a:solidFill>
              </a:rPr>
              <a:t>Count API Required fields</a:t>
            </a:r>
            <a:endParaRPr sz="2750">
              <a:solidFill>
                <a:srgbClr val="1F1F1F"/>
              </a:solidFill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50"/>
              <a:buChar char="-"/>
            </a:pPr>
            <a:r>
              <a:rPr lang="en-US" sz="2750">
                <a:solidFill>
                  <a:srgbClr val="1F1F1F"/>
                </a:solidFill>
              </a:rPr>
              <a:t>Look at max nesting dept</a:t>
            </a:r>
            <a:endParaRPr sz="2750">
              <a:solidFill>
                <a:srgbClr val="1F1F1F"/>
              </a:solidFill>
            </a:endParaRPr>
          </a:p>
          <a:p>
            <a:pPr indent="-4032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50"/>
              <a:buChar char="-"/>
            </a:pPr>
            <a:r>
              <a:rPr lang="en-US" sz="2750">
                <a:solidFill>
                  <a:srgbClr val="1F1F1F"/>
                </a:solidFill>
              </a:rPr>
              <a:t>Connect Research to other results found to gain broader picture</a:t>
            </a:r>
            <a:endParaRPr sz="275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9cb063825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Conclusions </a:t>
            </a:r>
            <a:endParaRPr/>
          </a:p>
        </p:txBody>
      </p:sp>
      <p:sp>
        <p:nvSpPr>
          <p:cNvPr id="226" name="Google Shape;226;g399cb063825_0_0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Industries that are more heavily regulated have more API structure.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Some APIs forgo structure and depth for </a:t>
            </a:r>
            <a:r>
              <a:rPr lang="en-US"/>
              <a:t>Performance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Commercial Industries rely on third parties for </a:t>
            </a:r>
            <a:r>
              <a:rPr lang="en-US"/>
              <a:t>normalization.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Industries are coalescing around a small group of API technologies (JSON, REST, OAuth)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d4f0023a1_0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APIs with AI</a:t>
            </a:r>
            <a:endParaRPr/>
          </a:p>
        </p:txBody>
      </p:sp>
      <p:sp>
        <p:nvSpPr>
          <p:cNvPr id="232" name="Google Shape;232;g3ad4f0023a1_0_1"/>
          <p:cNvSpPr txBox="1"/>
          <p:nvPr>
            <p:ph idx="1" type="body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Found some industries like Travel that are already looking to make APIs more AI friendly.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Wrappers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Ability to have AIs ask API calls what they do in real time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d4f0023a1_0_6"/>
          <p:cNvSpPr txBox="1"/>
          <p:nvPr>
            <p:ph type="title"/>
          </p:nvPr>
        </p:nvSpPr>
        <p:spPr>
          <a:xfrm>
            <a:off x="457200" y="285748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ccs-powerpoint-template-2014-cobrande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2021-01-22T16:40:50Z</dcterms:created>
  <dc:creator>Michael Schaming</dc:creator>
</cp:coreProperties>
</file>